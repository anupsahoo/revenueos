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F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>
                <a:solidFill>
                  <a:srgbClr val="FFFFFF"/>
                </a:solidFill>
                <a:latin typeface="Helvetica Neue"/>
              </a:rPr>
              <a:t>RevenueOS</a:t>
            </a:r>
          </a:p>
          <a:p>
            <a:pPr algn="l">
              <a:spcAft>
                <a:spcPts val="0"/>
              </a:spcAft>
            </a:pPr>
            <a:r>
              <a:rPr sz="2600" b="0">
                <a:solidFill>
                  <a:srgbClr val="C9B8F5"/>
                </a:solidFill>
                <a:latin typeface="Helvetica Neue"/>
              </a:rPr>
              <a:t>One seam, closed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DDD3F8"/>
                </a:solidFill>
                <a:latin typeface="Helvetica Neue"/>
              </a:rPr>
              <a:t>Sales wins a deal. PreSales has two business days to start the POC plan.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DDD3F8"/>
                </a:solidFill>
                <a:latin typeface="Helvetica Neue"/>
              </a:rPr>
              <a:t>In the US it takes 6.8. This is the loop that closes the gap.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The seam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Marketing → Sales → PreSales → Delivery → Support. It stalls at one join.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C162E"/>
                </a:solidFill>
                <a:latin typeface="Helvetica Neue"/>
              </a:rPr>
              <a:t>Marketing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98063" y="2039112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63240" y="17830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C162E"/>
                </a:solidFill>
                <a:latin typeface="Helvetica Neue"/>
              </a:rPr>
              <a:t>Sales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92623" y="2039112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17830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PreSales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87183" y="2039112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17830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C162E"/>
                </a:solidFill>
                <a:latin typeface="Helvetica Neue"/>
              </a:rPr>
              <a:t>Delivery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1743" y="2039112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6920" y="17830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C162E"/>
                </a:solidFill>
                <a:latin typeface="Helvetica Neue"/>
              </a:rPr>
              <a:t>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2578608"/>
            <a:ext cx="1874519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68833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Helvetica Neue"/>
              </a:rPr>
              <a:t>the stall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91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6D28D9"/>
                </a:solidFill>
              </a:rPr>
              <a:t>2 days</a:t>
            </a:r>
          </a:p>
          <a:p>
            <a:pPr algn="ctr"/>
            <a:r>
              <a:rPr sz="1300">
                <a:solidFill>
                  <a:srgbClr val="6B6482"/>
                </a:solidFill>
              </a:rPr>
              <a:t>the SLA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291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B91C1C"/>
                </a:solidFill>
              </a:rPr>
              <a:t>6.8 days</a:t>
            </a:r>
          </a:p>
          <a:p>
            <a:pPr algn="ctr"/>
            <a:r>
              <a:rPr sz="1300">
                <a:solidFill>
                  <a:srgbClr val="6B6482"/>
                </a:solidFill>
              </a:rPr>
              <a:t>US actual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91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B91C1C"/>
                </a:solidFill>
              </a:rPr>
              <a:t>21%</a:t>
            </a:r>
          </a:p>
          <a:p>
            <a:pPr algn="ctr"/>
            <a:r>
              <a:rPr sz="1300">
                <a:solidFill>
                  <a:srgbClr val="6B6482"/>
                </a:solidFill>
              </a:rPr>
              <a:t>US reuse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291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5803D"/>
                </a:solidFill>
              </a:rPr>
              <a:t>58% / 55%</a:t>
            </a:r>
          </a:p>
          <a:p>
            <a:pPr algn="ctr"/>
            <a:r>
              <a:rPr sz="1300">
                <a:solidFill>
                  <a:srgbClr val="6B6482"/>
                </a:solidFill>
              </a:rPr>
              <a:t>UK / India reuse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9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C162E"/>
                </a:solidFill>
                <a:latin typeface="Helvetica Neue"/>
              </a:rPr>
              <a:t>Not a headcount problem. The templates already exist — nothing fetches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Five steps. One screen. The human presses the last button.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162E"/>
                </a:solidFill>
                <a:latin typeface="Helvetica Neue"/>
              </a:rPr>
              <a:t>Brief
arrives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98063" y="2743200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63240" y="21488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162E"/>
                </a:solidFill>
                <a:latin typeface="Helvetica Neue"/>
              </a:rPr>
              <a:t>Retrieve
3 matches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92623" y="2743200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21488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162E"/>
                </a:solidFill>
                <a:latin typeface="Helvetica Neue"/>
              </a:rPr>
              <a:t>Draft
POC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87183" y="2743200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21488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Human
accepts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1743" y="2743200"/>
            <a:ext cx="21945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6920" y="21488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162E"/>
                </a:solidFill>
                <a:latin typeface="Helvetica Neue"/>
              </a:rPr>
              <a:t>Library
re-ranks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1691640" y="3931920"/>
            <a:ext cx="8229600" cy="201168"/>
          </a:xfrm>
          <a:prstGeom prst="leftArrow">
            <a:avLst/>
          </a:prstGeom>
          <a:solidFill>
            <a:srgbClr val="B9A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17880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B6482"/>
                </a:solidFill>
                <a:latin typeface="Helvetica Neue"/>
              </a:rPr>
              <a:t>every decision changes the next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C162E"/>
                </a:solidFill>
                <a:latin typeface="Helvetica Neue"/>
              </a:rPr>
              <a:t>Automated up to the commitment. The commitment stays with a named human.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One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Nothing on the screen is stored. Every number is derived from an append-only 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Helvetica Neue"/>
              </a:rPr>
              <a:t>Event log
brief.arrived
draft.generated
draft.accepted
draft.rejected
sla.breached
trigger.fired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43400" y="3246120"/>
            <a:ext cx="457200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6309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C162E"/>
                </a:solidFill>
              </a:rPr>
              <a:t>  age → business days since arrival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450592"/>
            <a:ext cx="6309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C162E"/>
                </a:solidFill>
              </a:rPr>
              <a:t>  status → green / amber / 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072384"/>
            <a:ext cx="6309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C162E"/>
                </a:solidFill>
              </a:rPr>
              <a:t>  reuse rate → accepted ÷ decided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694176"/>
            <a:ext cx="6309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C162E"/>
                </a:solidFill>
              </a:rPr>
              <a:t>  boosts → ±8 per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315968"/>
            <a:ext cx="6309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C162E"/>
                </a:solidFill>
              </a:rPr>
              <a:t>  triggers → who was escalated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8D9"/>
                </a:solidFill>
                <a:latin typeface="Helvetica Neue"/>
              </a:rPr>
              <a:t>Every number on screen has an ⓘ that shows the query behind it. If it cannot, it does not go on the screen.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Retrieval you can argue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A score a Solution Architect can push back on beats a similarity number they cannot.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162E"/>
                </a:solidFill>
              </a:rPr>
              <a:t>  Same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874519"/>
            <a:ext cx="914400" cy="4572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0F76"/>
                </a:solidFill>
                <a:latin typeface="Helvetica Neue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41447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162E"/>
                </a:solidFill>
              </a:rPr>
              <a:t>  Same regulator / analogue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441447"/>
            <a:ext cx="914400" cy="4572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0F76"/>
                </a:solidFill>
                <a:latin typeface="Helvetica Neue"/>
              </a:rPr>
              <a:t>16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008375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162E"/>
                </a:solidFill>
              </a:rPr>
              <a:t>  Problem overlap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008375"/>
            <a:ext cx="914400" cy="4572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0F76"/>
                </a:solidFill>
                <a:latin typeface="Helvetica Neue"/>
              </a:rPr>
              <a:t>≤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75303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162E"/>
                </a:solidFill>
              </a:rPr>
              <a:t>  Systems overlap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575303"/>
            <a:ext cx="914400" cy="4572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0F76"/>
                </a:solidFill>
                <a:latin typeface="Helvetica Neue"/>
              </a:rPr>
              <a:t>≤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42231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162E"/>
                </a:solidFill>
              </a:rPr>
              <a:t>  Recently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4142231"/>
            <a:ext cx="914400" cy="4572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0F76"/>
                </a:solidFill>
                <a:latin typeface="Helvetica Neue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09159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162E"/>
                </a:solidFill>
              </a:rPr>
              <a:t>  Proven reuse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4709159"/>
            <a:ext cx="914400" cy="4572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0F76"/>
                </a:solidFill>
                <a:latin typeface="Helvetica Neue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76087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162E"/>
                </a:solidFill>
              </a:rPr>
              <a:t>  Learned from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5276087"/>
            <a:ext cx="914400" cy="4572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0F76"/>
                </a:solidFill>
                <a:latin typeface="Helvetica Neue"/>
              </a:rPr>
              <a:t>±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874519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B0F76"/>
                </a:solidFill>
                <a:latin typeface="Helvetica Neue"/>
              </a:rPr>
              <a:t>Threshold 40
Nothing below it
is shown.
No match = the plan
says 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4340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62E"/>
                </a:solidFill>
                <a:latin typeface="Helvetica Neue"/>
              </a:rPr>
              <a:t>Each match ships the reasons it fits, in words.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B6482"/>
                </a:solidFill>
                <a:latin typeface="Helvetica Neue"/>
              </a:rPr>
              <a:t>At ~200 templates I put embeddings in front for recall and keep this for the explanation.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Three nodes, one job. It drafts; it does not decide.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3200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6D28D9"/>
                </a:solidFill>
              </a:rPr>
              <a:t>retrieve</a:t>
            </a:r>
          </a:p>
          <a:p>
            <a:pPr algn="ctr"/>
            <a:r>
              <a:rPr sz="1300">
                <a:solidFill>
                  <a:srgbClr val="6B6482"/>
                </a:solidFill>
              </a:rPr>
              <a:t>
score the library,
keep the reasons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23944" y="2788920"/>
            <a:ext cx="40233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7719" y="2011680"/>
            <a:ext cx="3200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6D28D9"/>
                </a:solidFill>
              </a:rPr>
              <a:t>draft</a:t>
            </a:r>
          </a:p>
          <a:p>
            <a:pPr algn="ctr"/>
            <a:r>
              <a:rPr sz="1300">
                <a:solidFill>
                  <a:srgbClr val="6B6482"/>
                </a:solidFill>
              </a:rPr>
              <a:t>
write the POC plan
from the matches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72983" y="2788920"/>
            <a:ext cx="402336" cy="18288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58" y="2011680"/>
            <a:ext cx="32004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6D28D9"/>
                </a:solidFill>
              </a:rPr>
              <a:t>assemble</a:t>
            </a:r>
          </a:p>
          <a:p>
            <a:pPr algn="ctr"/>
            <a:r>
              <a:rPr sz="1300">
                <a:solidFill>
                  <a:srgbClr val="6B6482"/>
                </a:solidFill>
              </a:rPr>
              <a:t>
plan + handoff +
what it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1480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B0F76"/>
                </a:solidFill>
                <a:latin typeface="Helvetica Neue"/>
              </a:rPr>
              <a:t>If the model is slow or unavailable, it falls back to a deterministic plan — and the screen says “sample draft” instead of “drafted by AI model”.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C162E"/>
                </a:solidFill>
                <a:latin typeface="Helvetica Neue"/>
              </a:rPr>
              <a:t>The demo never dies, and it never pretends.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Ask the seam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A chat box with no memory and six read-only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3200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B0F76"/>
                </a:solidFill>
                <a:latin typeface="Helvetica Neue"/>
              </a:rPr>
              <a:t>get_events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20240"/>
            <a:ext cx="3200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B0F76"/>
                </a:solidFill>
                <a:latin typeface="Helvetica Neue"/>
              </a:rPr>
              <a:t>get_health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920240"/>
            <a:ext cx="3200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B0F76"/>
                </a:solidFill>
                <a:latin typeface="Helvetica Neue"/>
              </a:rPr>
              <a:t>get_brief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3200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B0F76"/>
                </a:solidFill>
                <a:latin typeface="Helvetica Neue"/>
              </a:rPr>
              <a:t>get_template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697480"/>
            <a:ext cx="3200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B0F76"/>
                </a:solidFill>
                <a:latin typeface="Helvetica Neue"/>
              </a:rPr>
              <a:t>explain_match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697480"/>
            <a:ext cx="3200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B0F76"/>
                </a:solidFill>
                <a:latin typeface="Helvetica Neue"/>
              </a:rPr>
              <a:t>read_doc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49039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Helvetica Neue"/>
              </a:rPr>
              <a:t>“Which briefs are past SLA right now and who was triggered?”  →  answers from the log, and names the sources it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892040"/>
            <a:ext cx="104698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6B6482"/>
                </a:solidFill>
                <a:latin typeface="Helvetica Neue"/>
              </a:rPr>
              <a:t>“What is the weather in Mumbai?”  →  refuses in one sentence. No tool holds it, so there is no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It learns from the decision, not from a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No feedback form. The button is the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5803D"/>
                </a:solidFill>
                <a:latin typeface="Helvetica Neue"/>
              </a:rPr>
              <a:t>Accept  →  + 8 to every template that draft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91C1C"/>
                </a:solidFill>
                <a:latin typeface="Helvetica Neue"/>
              </a:rPr>
              <a:t>Reject  →  − 8 to every template that draft used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89320" y="3657600"/>
            <a:ext cx="256032" cy="182880"/>
          </a:xfrm>
          <a:prstGeom prst="rightArrow">
            <a:avLst/>
          </a:prstGeom>
          <a:solidFill>
            <a:srgbClr val="6B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794760"/>
            <a:ext cx="10469880" cy="1051560"/>
          </a:xfrm>
          <a:prstGeom prst="roundRect">
            <a:avLst>
              <a:gd name="adj" fmla="val 8000"/>
            </a:avLst>
          </a:prstGeom>
          <a:solidFill>
            <a:srgbClr val="EDE7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B0F76"/>
                </a:solidFill>
                <a:latin typeface="Helvetica Neue"/>
              </a:rPr>
              <a:t>Boosts are derived from the event log — the server reads them itself and ignores anything the browser sends.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C162E"/>
                </a:solidFill>
                <a:latin typeface="Helvetica Neue"/>
              </a:rPr>
              <a:t>Refresh the page and the decision is still there. It was never browser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162E"/>
                </a:solidFill>
                <a:latin typeface="Helvetica Neue"/>
              </a:rPr>
              <a:t>What is real, and what breaks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482"/>
                </a:solidFill>
                <a:latin typeface="Helvetica Neue"/>
              </a:rPr>
              <a:t>Said before anyone has to 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51206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15803D"/>
                </a:solidFill>
              </a:rPr>
              <a:t>Real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Event log, derive functions, tests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Retrieval scoring and its reasons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The agent, the tools, the refusals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SLA breach detection and escalation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B45309"/>
                </a:solidFill>
              </a:rPr>
              <a:t>Not real yet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Data is synthetic and labelled on screen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Store is in memory — a cold start loses 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No auth, one tenant, no workers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C162E"/>
                </a:solidFill>
              </a:rPr>
              <a:t>Breaks first at 10×: the store (#53)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6482"/>
                </a:solidFill>
                <a:latin typeface="Helvetica Neue"/>
              </a:rPr>
              <a:t>48 open issues across six milestones. Nothing is closed unless code exists behind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482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F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Helvetica Neue"/>
              </a:rPr>
              <a:t>The one thing I would never hand to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875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400" b="1">
                <a:solidFill>
                  <a:srgbClr val="C9B8F5"/>
                </a:solidFill>
                <a:latin typeface="Helvetica Neue"/>
              </a:rPr>
              <a:t>The accept.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DDD3F8"/>
                </a:solidFill>
                <a:latin typeface="Helvetica Neue"/>
              </a:rPr>
              <a:t>Pressing Accept is not a document being finished. It is a promise to a customer about what we will prove, in how many weeks, under their regulator.</a:t>
            </a:r>
          </a:p>
          <a:p>
            <a:pPr algn="l">
              <a:spcAft>
                <a:spcPts val="0"/>
              </a:spcAft>
            </a:pPr>
            <a:r>
              <a:rPr sz="1900" b="0">
                <a:solidFill>
                  <a:srgbClr val="DDD3F8"/>
                </a:solidFill>
                <a:latin typeface="Helvetica Neue"/>
              </a:rPr>
              <a:t>The person who makes that promise has to be the person who will be in the room when it slips.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9A6EE"/>
                </a:solidFill>
                <a:latin typeface="Helvetica Neue"/>
              </a:rPr>
              <a:t>github.com/anupsahoo/revenueos   ·   revenueos-blond.vercel.app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