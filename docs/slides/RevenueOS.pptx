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F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6000" b="1">
                <a:solidFill>
                  <a:srgbClr val="FFFFFF"/>
                </a:solidFill>
                <a:latin typeface="Helvetica Neue"/>
              </a:rPr>
              <a:t>RevenueOS</a:t>
            </a:r>
          </a:p>
          <a:p>
            <a:pPr algn="l">
              <a:spcAft>
                <a:spcPts val="0"/>
              </a:spcAft>
            </a:pPr>
            <a:r>
              <a:rPr sz="2600" b="0">
                <a:solidFill>
                  <a:srgbClr val="C9B8F5"/>
                </a:solidFill>
                <a:latin typeface="Helvetica Neue"/>
              </a:rPr>
              <a:t>One seam, closed end to end.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9319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DDD3F8"/>
                </a:solidFill>
                <a:latin typeface="Helvetica Neue"/>
              </a:rPr>
              <a:t>Sales wins a deal. PreSales has two business days to start the POC plan.</a:t>
            </a:r>
          </a:p>
          <a:p>
            <a:pPr algn="l">
              <a:spcAft>
                <a:spcPts val="0"/>
              </a:spcAft>
            </a:pPr>
            <a:r>
              <a:rPr sz="1700" b="0">
                <a:solidFill>
                  <a:srgbClr val="DDD3F8"/>
                </a:solidFill>
                <a:latin typeface="Helvetica Neue"/>
              </a:rPr>
              <a:t>In the US it takes 6.8. This is the loop that closes the gap.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The seam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Marketing → Sales → PreSales → Delivery → Support. It stalls at one join.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7830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1C162E"/>
                </a:solidFill>
                <a:latin typeface="Helvetica Neue"/>
              </a:rPr>
              <a:t>Marketing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98063" y="2039112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63240" y="17830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1C162E"/>
                </a:solidFill>
                <a:latin typeface="Helvetica Neue"/>
              </a:rPr>
              <a:t>Sales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92623" y="2039112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7830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PreSales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87183" y="2039112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17830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1C162E"/>
                </a:solidFill>
                <a:latin typeface="Helvetica Neue"/>
              </a:rPr>
              <a:t>Delivery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3" y="2039112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6920" y="1783080"/>
            <a:ext cx="1874519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1C162E"/>
                </a:solidFill>
                <a:latin typeface="Helvetica Neue"/>
              </a:rPr>
              <a:t>Support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57800" y="2578608"/>
            <a:ext cx="1874519" cy="54864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0" y="2688336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B91C1C"/>
                </a:solidFill>
                <a:latin typeface="Helvetica Neue"/>
              </a:rPr>
              <a:t>the stall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" y="32918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6D28D9"/>
                </a:solidFill>
              </a:rPr>
              <a:t>2 days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the SLA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32918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B91C1C"/>
                </a:solidFill>
              </a:rPr>
              <a:t>6.8 days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US actual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55080" y="32918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B91C1C"/>
                </a:solidFill>
              </a:rPr>
              <a:t>21%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US reuse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329184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15803D"/>
                </a:solidFill>
              </a:rPr>
              <a:t>58% / 55%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UK / India reuse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292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C162E"/>
                </a:solidFill>
                <a:latin typeface="Helvetica Neue"/>
              </a:rPr>
              <a:t>Not a headcount problem. The templates already exist — nothing fetches them.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The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Five steps. One screen. The human presses the last button.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148840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C162E"/>
                </a:solidFill>
                <a:latin typeface="Helvetica Neue"/>
              </a:rPr>
              <a:t>Brief
arrives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798063" y="2743200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063240" y="2148840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C162E"/>
                </a:solidFill>
                <a:latin typeface="Helvetica Neue"/>
              </a:rPr>
              <a:t>Retrieve
3 matches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92623" y="2743200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48840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C162E"/>
                </a:solidFill>
                <a:latin typeface="Helvetica Neue"/>
              </a:rPr>
              <a:t>Draft
POC plan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87183" y="2743200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452360" y="2148840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Human
accepts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81743" y="2743200"/>
            <a:ext cx="21945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46920" y="2148840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C162E"/>
                </a:solidFill>
                <a:latin typeface="Helvetica Neue"/>
              </a:rPr>
              <a:t>Library
re-ranks</a:t>
            </a:r>
          </a:p>
        </p:txBody>
      </p:sp>
      <p:sp>
        <p:nvSpPr>
          <p:cNvPr id="14" name="Left Arrow 13"/>
          <p:cNvSpPr/>
          <p:nvPr/>
        </p:nvSpPr>
        <p:spPr>
          <a:xfrm>
            <a:off x="1691640" y="3931920"/>
            <a:ext cx="8229600" cy="201168"/>
          </a:xfrm>
          <a:prstGeom prst="leftArrow">
            <a:avLst/>
          </a:prstGeom>
          <a:solidFill>
            <a:srgbClr val="B9A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46120" y="4178808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6B6482"/>
                </a:solidFill>
                <a:latin typeface="Helvetica Neue"/>
              </a:rPr>
              <a:t>every decision changes the next 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3492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>
                <a:solidFill>
                  <a:srgbClr val="1C162E"/>
                </a:solidFill>
                <a:latin typeface="Helvetica Neue"/>
              </a:rPr>
              <a:t>Automated up to the commitment. The commitment stays with a named human.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One source of truth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Nothing on the screen is stored. Every number is derived from an append-only log.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28800"/>
            <a:ext cx="3291840" cy="310896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FFFFFF"/>
                </a:solidFill>
                <a:latin typeface="Helvetica Neue"/>
              </a:rPr>
              <a:t>Event log
brief.arrived
draft.generated
draft.accepted
draft.rejected
sla.breached
trigger.fired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343400" y="3246120"/>
            <a:ext cx="457200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29200" y="1828800"/>
            <a:ext cx="63093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C162E"/>
                </a:solidFill>
              </a:rPr>
              <a:t>  age → business days since arrival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0" y="2450592"/>
            <a:ext cx="63093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C162E"/>
                </a:solidFill>
              </a:rPr>
              <a:t>  status → green / amber / 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0" y="3072384"/>
            <a:ext cx="63093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C162E"/>
                </a:solidFill>
              </a:rPr>
              <a:t>  reuse rate → accepted ÷ decided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3694176"/>
            <a:ext cx="63093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C162E"/>
                </a:solidFill>
              </a:rPr>
              <a:t>  boosts → ±8 per decision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0" y="4315968"/>
            <a:ext cx="6309360" cy="502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400">
                <a:solidFill>
                  <a:srgbClr val="1C162E"/>
                </a:solidFill>
              </a:rPr>
              <a:t>  triggers → who was escalated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257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6D28D9"/>
                </a:solidFill>
                <a:latin typeface="Helvetica Neue"/>
              </a:rPr>
              <a:t>Every number on screen has an ⓘ that shows the query behind it. If it cannot, it does not go on the screen.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Retrieval you can argue with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A score a Solution Architect can push back on beats a similarity number they cannot.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74519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Same segment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0760" y="1874519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441447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Same regulator / analogue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441447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16 /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08375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Problem overlap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60" y="3008375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≤ 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575303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Systems overlap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3575303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≤ 18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68680" y="4142231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Recently 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4142231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709159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Proven reuse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4709159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5276087"/>
            <a:ext cx="512064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>
                <a:solidFill>
                  <a:srgbClr val="1C162E"/>
                </a:solidFill>
              </a:rPr>
              <a:t>  Learned from decisions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5276087"/>
            <a:ext cx="914400" cy="4572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3B0F76"/>
                </a:solidFill>
                <a:latin typeface="Helvetica Neue"/>
              </a:rPr>
              <a:t>± 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80960" y="1874519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3B0F76"/>
                </a:solidFill>
                <a:latin typeface="Helvetica Neue"/>
              </a:rPr>
              <a:t>Threshold 40
Nothing below it
is shown.
No match = the plan
says so.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343400"/>
            <a:ext cx="3657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C162E"/>
                </a:solidFill>
                <a:latin typeface="Helvetica Neue"/>
              </a:rPr>
              <a:t>Each match ships the reasons it fits, in words.</a:t>
            </a:r>
          </a:p>
          <a:p>
            <a:pPr algn="l">
              <a:spcAft>
                <a:spcPts val="0"/>
              </a:spcAft>
            </a:pPr>
            <a:r>
              <a:rPr sz="1300" b="0">
                <a:solidFill>
                  <a:srgbClr val="6B6482"/>
                </a:solidFill>
                <a:latin typeface="Helvetica Neue"/>
              </a:rPr>
              <a:t>At ~200 templates I put embeddings in front for recall and keep this for the explanation.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The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Three nodes, one job. It drafts; it does not decide.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11680"/>
            <a:ext cx="32004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6D28D9"/>
                </a:solidFill>
              </a:rPr>
              <a:t>retrieve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
score the library,
keep the reasons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23944" y="2788920"/>
            <a:ext cx="40233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17719" y="2011680"/>
            <a:ext cx="32004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6D28D9"/>
                </a:solidFill>
              </a:rPr>
              <a:t>draft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
write the POC plan
from the matches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872983" y="2788920"/>
            <a:ext cx="402336" cy="182880"/>
          </a:xfrm>
          <a:prstGeom prst="rightArrow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366758" y="2011680"/>
            <a:ext cx="3200400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6D28D9"/>
                </a:solidFill>
              </a:rPr>
              <a:t>assemble</a:t>
            </a:r>
          </a:p>
          <a:p>
            <a:pPr algn="ctr"/>
            <a:r>
              <a:rPr sz="1300">
                <a:solidFill>
                  <a:srgbClr val="6B6482"/>
                </a:solidFill>
              </a:rPr>
              <a:t>
plan + handoff +
what it 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4114800"/>
            <a:ext cx="10469880" cy="91440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3B0F76"/>
                </a:solidFill>
                <a:latin typeface="Helvetica Neue"/>
              </a:rPr>
              <a:t>If the model is slow or unavailable, it falls back to a deterministic plan — and the screen says “sample draft” instead of “drafted by AI model”.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30352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C162E"/>
                </a:solidFill>
                <a:latin typeface="Helvetica Neue"/>
              </a:rPr>
              <a:t>The demo never dies, and it never pretends.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Ask the seam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A chat box with no memory and six read-only tools.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92024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get_events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192024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get_health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192024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get_brief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get_template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269748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explain_match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697480"/>
            <a:ext cx="3200400" cy="594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3B0F76"/>
                </a:solidFill>
                <a:latin typeface="Helvetica Neue"/>
              </a:rPr>
              <a:t>read_doc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3749039"/>
            <a:ext cx="10469880" cy="960120"/>
          </a:xfrm>
          <a:prstGeom prst="roundRect">
            <a:avLst>
              <a:gd name="adj" fmla="val 8000"/>
            </a:avLst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FFFFFF"/>
                </a:solidFill>
                <a:latin typeface="Helvetica Neue"/>
              </a:rPr>
              <a:t>“Which briefs are past SLA right now and who was triggered?”  →  answers from the log, and names the sources it read.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892040"/>
            <a:ext cx="10469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0">
                <a:solidFill>
                  <a:srgbClr val="6B6482"/>
                </a:solidFill>
                <a:latin typeface="Helvetica Neue"/>
              </a:rPr>
              <a:t>“What is the weather in Mumbai?”  →  refuses in one sentence. No tool holds it, so there is no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It learns from the decision, not from a rating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No feedback form. The button is the 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201168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580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5803D"/>
                </a:solidFill>
                <a:latin typeface="Helvetica Neue"/>
              </a:rPr>
              <a:t>Accept  →  + 8 to every template that draft used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011680"/>
            <a:ext cx="49377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B91C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B91C1C"/>
                </a:solidFill>
                <a:latin typeface="Helvetica Neue"/>
              </a:rPr>
              <a:t>Reject  →  − 8 to every template that draft used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89320" y="3657600"/>
            <a:ext cx="256032" cy="182880"/>
          </a:xfrm>
          <a:prstGeom prst="rightArrow">
            <a:avLst/>
          </a:prstGeom>
          <a:solidFill>
            <a:srgbClr val="6B6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94760"/>
            <a:ext cx="10469880" cy="1051560"/>
          </a:xfrm>
          <a:prstGeom prst="roundRect">
            <a:avLst>
              <a:gd name="adj" fmla="val 8000"/>
            </a:avLst>
          </a:prstGeom>
          <a:solidFill>
            <a:srgbClr val="EDE7FB"/>
          </a:solidFill>
          <a:ln w="15875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3B0F76"/>
                </a:solidFill>
                <a:latin typeface="Helvetica Neue"/>
              </a:rPr>
              <a:t>Boosts are derived from the event log — the server reads them itself and ignores anything the browser sends.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12064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1C162E"/>
                </a:solidFill>
                <a:latin typeface="Helvetica Neue"/>
              </a:rPr>
              <a:t>Refresh the page and the decision is still there. It was never browser 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82296" cy="47548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4572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1C162E"/>
                </a:solidFill>
                <a:latin typeface="Helvetica Neue"/>
              </a:rPr>
              <a:t>What is real, and what breaks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07899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6B6482"/>
                </a:solidFill>
                <a:latin typeface="Helvetica Neue"/>
              </a:rPr>
              <a:t>Said before anyone has to ask.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828800"/>
            <a:ext cx="51206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15803D"/>
                </a:solidFill>
              </a:rPr>
              <a:t>Real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Event log, derive functions, tests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Retrieval scoring and its reasons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The agent, the tools, the refusals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SLA breach detection and escalation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1206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28600"/>
          <a:lstStyle/>
          <a:p>
            <a:pPr algn="ctr">
              <a:spcAft>
                <a:spcPts val="1000"/>
              </a:spcAft>
            </a:pPr>
            <a:r>
              <a:rPr sz="2000" b="1">
                <a:solidFill>
                  <a:srgbClr val="B45309"/>
                </a:solidFill>
              </a:rPr>
              <a:t>Not real yet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Data is synthetic and labelled on screen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Store is in memory — a cold start loses it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No auth, one tenant, no workers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1C162E"/>
                </a:solidFill>
              </a:rPr>
              <a:t>Breaks first at 10×: the store (#53)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6235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6B6482"/>
                </a:solidFill>
                <a:latin typeface="Helvetica Neue"/>
              </a:rPr>
              <a:t>46 open issues, 18 closed. Nothing is closed unless code exists behind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263640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6B6482"/>
                </a:solidFill>
                <a:latin typeface="Helvetica Neue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B0F7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Helvetica Neue"/>
              </a:rPr>
              <a:t>The one thing I would never hand to the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377440"/>
            <a:ext cx="987552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800"/>
              </a:spcAft>
            </a:pPr>
            <a:r>
              <a:rPr sz="4400" b="1">
                <a:solidFill>
                  <a:srgbClr val="C9B8F5"/>
                </a:solidFill>
                <a:latin typeface="Helvetica Neue"/>
              </a:rPr>
              <a:t>The accept.</a:t>
            </a:r>
          </a:p>
          <a:p>
            <a:pPr algn="l">
              <a:spcAft>
                <a:spcPts val="1200"/>
              </a:spcAft>
            </a:pPr>
            <a:r>
              <a:rPr sz="1900" b="0">
                <a:solidFill>
                  <a:srgbClr val="DDD3F8"/>
                </a:solidFill>
                <a:latin typeface="Helvetica Neue"/>
              </a:rPr>
              <a:t>Pressing Accept is not a document being finished. It is a promise to a customer about what we will prove, in how many weeks, under their regulator.</a:t>
            </a:r>
          </a:p>
          <a:p>
            <a:pPr algn="l">
              <a:spcAft>
                <a:spcPts val="0"/>
              </a:spcAft>
            </a:pPr>
            <a:r>
              <a:rPr sz="1900" b="0">
                <a:solidFill>
                  <a:srgbClr val="DDD3F8"/>
                </a:solidFill>
                <a:latin typeface="Helvetica Neue"/>
              </a:rPr>
              <a:t>The person who makes that promise has to be the person who will be in the room when it slips.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8521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B9A6EE"/>
                </a:solidFill>
                <a:latin typeface="Helvetica Neue"/>
              </a:rPr>
              <a:t>github.com/anupsahoo/revenueos   ·   revenueos-blond.vercel.app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